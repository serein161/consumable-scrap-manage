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483" y="3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大家好，我是106组的代表。今天我将向各位老师汇报我们小组开发的“仓库消耗品管理系统”中的核心功能——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报废管理模块的设计与实现。本次汇报将从项目背景、技术架构、功能设计、前后端实现等多个方面展开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围绕以上八个部分展开。首先，我们会分析项目的背景与需求；接着，介绍系统的整体技术架构和报废管理功能的具体设计；然后，详细阐述数据库、后端和前端的实现细节；之后会进行功能演示；最后对项目进行总结并展望未来的改进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项目背景。原有的仓库管理系统虽然实现了基础的出入库和供应商管理，但缺少一个标准化的报废流程。这导致报废操作不规范，数据难以追溯。因此，我们的目标是开发一个独立的报废管理模块，实现报废记录的完整生命周期管理，并提供可视化的状态跟踪和数据统计功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我们的系统采用经典的分层架构。前端使用Vue.js构建用户界面，通过Axios与后端的Spring Boot接口进行通信。后端遵循Controller-Service-Dao的分层模式，由MyBatis负责与MySQL数据库交互。报废模块的代码严格按照此结构组织，保证了高内聚、低耦合的设计原则。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在功能设计上，我们规划了八大核心功能，覆盖了从申请到审批的全流程。报废单的状态会经历“待提交-待审批-通过/驳回”的流转。后端为此设计了清晰的RESTful API接口，前端通过调用这些接口来实现所有业务操作。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库设计的核心是scrap表。该表包含了报废单的所有关键信息，如关联的消耗品ID、报废数量、原因以及核心的状态字段。通过这个状态字段，我们可以清晰地追踪每一笔报废记录的当前环节。同时，记录表的创建和更新时间，为数据审计提供了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后端实现方面，我们使用MyBatis-Plus来简化CRUD操作。Scrap实体类通过注解与数据库表进行映射。ScrapDao接口继承了BaseMapper，获得了通用的数据访问能力。在ScrapServiceImpl中，我们实现了核心的业务逻辑，例如submitForApproval方法，它负责将报废单的状态从“待提交”更新为“待审批”，并记录申请时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前端部分，我们使用Vue.js结合Element UI组件库来构建页面。核心页面是Scrap.vue，它包含了一个数据表格，用于展示报废单列表。表格中的状态列使用了动态标签，直观地展示了单据的当前状态。新增和编辑功能通过弹窗实现，所有用户操作最终都会调用封装好的API接口与后端进行数据同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功能演示环节。我们将演示一个完整的报废流程：首先以普通用户身份新增并提交一个报废申请，然后切换到管理员账号进行审批操作。通过这个过程，大家可以直观地看到报废单状态的流转，以及系统如何根据用户角色进行权限控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我的汇报到此结束，感谢各位老师的聆听，恳请各位老师批评指正。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23.sv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svg"/><Relationship Id="rId5" Type="http://schemas.openxmlformats.org/officeDocument/2006/relationships/image" Target="../media/image25.svg"/><Relationship Id="rId4" Type="http://schemas.openxmlformats.org/officeDocument/2006/relationships/image" Target="../media/image26.svg"/><Relationship Id="rId9" Type="http://schemas.openxmlformats.org/officeDocument/2006/relationships/image" Target="../media/image2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0" y="-1524000"/>
            <a:ext cx="4064000" cy="4064000"/>
          </a:xfrm>
          <a:prstGeom prst="ellipse">
            <a:avLst/>
          </a:prstGeom>
          <a:solidFill>
            <a:srgbClr val="007BFF">
              <a:alpha val="6000"/>
            </a:srgbClr>
          </a:solidFill>
          <a:ln cap="flat" cmpd="sng">
            <a:solidFill>
              <a:srgbClr val="006F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5842000" y="1016000"/>
            <a:ext cx="508000" cy="508000"/>
          </a:xfrm>
          <a:prstGeom prst="ellipse">
            <a:avLst/>
          </a:prstGeom>
          <a:solidFill>
            <a:srgbClr val="007BFF">
              <a:alpha val="10000"/>
            </a:srgbClr>
          </a:solidFill>
          <a:ln cap="flat" cmpd="sng">
            <a:solidFill>
              <a:srgbClr val="006FE6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381000" y="1524000"/>
            <a:ext cx="1143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仓库消耗品管理系统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588000" y="27305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cap="flat" cmpd="sng">
            <a:solidFill>
              <a:srgbClr val="006F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81000" y="31115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报废管理模块设计与实现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8000" y="4508500"/>
            <a:ext cx="2667000" cy="1714500"/>
          </a:xfrm>
          <a:prstGeom prst="roundRect">
            <a:avLst>
              <a:gd name="adj" fmla="val 0"/>
            </a:avLst>
          </a:prstGeom>
          <a:solidFill>
            <a:srgbClr val="007BFF">
              <a:alpha val="5000"/>
            </a:srgbClr>
          </a:solidFill>
          <a:ln cap="flat" cmpd="sng">
            <a:solidFill>
              <a:srgbClr val="006FE6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500" y="4699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143000" y="46990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智能报废审批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98500" y="51435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基于工作流引擎实现自动化审批流转，支持多级审核配置，大幅提升报废处理效率与规范性。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000625" y="4508500"/>
            <a:ext cx="2667000" cy="1714500"/>
          </a:xfrm>
          <a:prstGeom prst="roundRect">
            <a:avLst>
              <a:gd name="adj" fmla="val 0"/>
            </a:avLst>
          </a:prstGeom>
          <a:solidFill>
            <a:srgbClr val="007BFF">
              <a:alpha val="5000"/>
            </a:srgbClr>
          </a:solidFill>
          <a:ln cap="flat" cmpd="sng">
            <a:solidFill>
              <a:srgbClr val="006FE6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2400" y="4699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746750" y="46482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全链路库存追溯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5232400" y="52324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建立一物一码的台账体系，详细记录报废原因、处理人及流向，确保资产全生命周期可查</a:t>
            </a:r>
            <a:r>
              <a:rPr lang="en-US" sz="1300" b="0" i="0" u="none" strike="noStrike" dirty="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6807200" y="46990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6362700" y="51435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8782050" y="4508500"/>
            <a:ext cx="2667000" cy="1714500"/>
          </a:xfrm>
          <a:prstGeom prst="roundRect">
            <a:avLst>
              <a:gd name="adj" fmla="val 0"/>
            </a:avLst>
          </a:prstGeom>
          <a:solidFill>
            <a:srgbClr val="007BFF">
              <a:alpha val="5000"/>
            </a:srgbClr>
          </a:solidFill>
          <a:ln cap="flat" cmpd="sng">
            <a:solidFill>
              <a:srgbClr val="006FE6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07500" y="46990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652000" y="46990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灵活规则配置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207500" y="51435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支持自定义报废类型、审批节点及权限管理，适配不同规模仓库的个性化管理需求。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007B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76200" cy="10795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19304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841500" y="1930400"/>
            <a:ext cx="393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项目背景与需求分析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841500" y="23368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深度调研业务痛点，精准拆解用户需求与系统建设目标，明确项目的核心价值与建设意义。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2984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007B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2984500"/>
            <a:ext cx="76200" cy="10795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016000" y="31369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841500" y="3136900"/>
            <a:ext cx="393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系统技术架构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841500" y="35433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采用高可用微服务架构，整合前沿技术栈，构建安全、高效、可扩展的分布式系统技术底座。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191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007B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76200" cy="10795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43434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841500" y="4343400"/>
            <a:ext cx="393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报废管理功能设计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841500" y="47498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围绕资产报废全生命周期，设计标准化审批流与状态机管理，实现业务合规与闭环管控。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397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007B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62000" y="5397500"/>
            <a:ext cx="76200" cy="10795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016000" y="55499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841500" y="5549900"/>
            <a:ext cx="393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数据库设计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841500" y="59563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基于规范化设计原则，构建冗余低、效率高的数据库模型，保障数据一致性与安全性。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223000" y="1778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007B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223000" y="1778000"/>
            <a:ext cx="76200" cy="10795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477000" y="19304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302500" y="1930400"/>
            <a:ext cx="393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后端实现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302500" y="23368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基于SpringBoot框架开发，封装通用组件与业务接口，实现模块化开发与高效部署。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223000" y="2984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007B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223000" y="2984500"/>
            <a:ext cx="76200" cy="10795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6477000" y="31369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302500" y="3136900"/>
            <a:ext cx="393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前端实现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302500" y="35433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采用Vue3+Element Plus技术栈，打造响应式交互界面，提升用户操作体验与系统易用性。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223000" y="4191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007B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6223000" y="4191000"/>
            <a:ext cx="76200" cy="10795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6477000" y="43434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7302500" y="4343400"/>
            <a:ext cx="393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功能演示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7302500" y="47498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通过核心业务场景的实操演示，直观呈现系统功能的完整性、流程的顺畅性与操作便捷性。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223000" y="5397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007B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41"/>
          <p:cNvSpPr/>
          <p:nvPr/>
        </p:nvSpPr>
        <p:spPr>
          <a:xfrm>
            <a:off x="6223000" y="5397500"/>
            <a:ext cx="76200" cy="10795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6477000" y="55499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08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7302500" y="5549900"/>
            <a:ext cx="393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7302500" y="59563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全面复盘项目成果与实施经验，分析现存问题，规划未来功能迭代与系统升级的发展蓝图。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项目背景与需求分析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429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225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98600" y="22098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现有功能底座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946">
            <a:off x="1016014" y="2724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29210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• 建立完善的用户与角色权限管控体系，保障数据安全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• 覆盖消耗品全生命周期管理，支持入库、出库及库存盘点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• 集成供应商档案管理与采购申请的多级审批流转机制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381500" y="1905000"/>
            <a:ext cx="3429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381500" y="190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DC35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22225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118100" y="22098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核心业务痛点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946">
            <a:off x="4635514" y="2724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35500" y="29210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流程缺失：</a:t>
            </a: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无标准报废流程，依赖出库操作变相处理，导致账目逻辑混乱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监管盲区：</a:t>
            </a: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报废过程不透明，缺乏审批留痕，无法有效追溯资产去向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状态失真：</a:t>
            </a: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消耗品报废后状态未同步，账面库存与实物长期不符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001000" y="1905000"/>
            <a:ext cx="3429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001000" y="190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8A7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5000" y="22225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737600" y="22098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模块建设目标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4946">
            <a:off x="8255014" y="2724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255000" y="29210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独立闭环：</a:t>
            </a: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实现报废记录专属CRUD，构建“申请-审批-归档”的标准化流程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全程可视：</a:t>
            </a: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通过状态标签实时展示进度，确保资产状态精准同步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智能分析：</a:t>
            </a: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提供多维度报废统计报表，为库存优化与成本控制提供数据支撑</a:t>
            </a:r>
          </a:p>
        </p:txBody>
      </p:sp>
      <p:sp>
        <p:nvSpPr>
          <p:cNvPr id="23" name="AutoShape 23"/>
          <p:cNvSpPr/>
          <p:nvPr/>
        </p:nvSpPr>
        <p:spPr>
          <a:xfrm>
            <a:off x="762000" y="5842000"/>
            <a:ext cx="10668000" cy="609600"/>
          </a:xfrm>
          <a:prstGeom prst="roundRect">
            <a:avLst>
              <a:gd name="adj" fmla="val 0"/>
            </a:avLst>
          </a:prstGeom>
          <a:solidFill>
            <a:srgbClr val="007B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952500" y="59436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</a:t>
            </a: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通过建立独立的报废管理模块，填补原有系统功能空白，实现资产报废流程的规范化、透明化与数据化，为企业资产管理提供坚实的数字化支撑。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02 系统技术架构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01 分层架构设计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2732">
            <a:off x="762012" y="2152650"/>
            <a:ext cx="342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2349500"/>
            <a:ext cx="3429000" cy="685800"/>
          </a:xfrm>
          <a:prstGeom prst="roundRect">
            <a:avLst>
              <a:gd name="adj" fmla="val 0"/>
            </a:avLst>
          </a:prstGeom>
          <a:solidFill>
            <a:srgbClr val="007B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62000" y="2349500"/>
            <a:ext cx="50800" cy="685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14400" y="2349500"/>
            <a:ext cx="3175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表现层 (Presentation)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Vue.js 构建交互界面，组件化渲染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136900"/>
            <a:ext cx="3429000" cy="685800"/>
          </a:xfrm>
          <a:prstGeom prst="roundRect">
            <a:avLst>
              <a:gd name="adj" fmla="val 0"/>
            </a:avLst>
          </a:prstGeom>
          <a:solidFill>
            <a:srgbClr val="007B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3136900"/>
            <a:ext cx="50800" cy="685800"/>
          </a:xfrm>
          <a:prstGeom prst="roundRect">
            <a:avLst>
              <a:gd name="adj" fmla="val 0"/>
            </a:avLst>
          </a:prstGeom>
          <a:solidFill>
            <a:srgbClr val="007B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14400" y="3136900"/>
            <a:ext cx="3175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接口层 (Controller)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Spring Boot 接收请求，路由分发与校验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924300"/>
            <a:ext cx="3429000" cy="685800"/>
          </a:xfrm>
          <a:prstGeom prst="roundRect">
            <a:avLst>
              <a:gd name="adj" fmla="val 0"/>
            </a:avLst>
          </a:prstGeom>
          <a:solidFill>
            <a:srgbClr val="007B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62000" y="3924300"/>
            <a:ext cx="50800" cy="685800"/>
          </a:xfrm>
          <a:prstGeom prst="roundRect">
            <a:avLst>
              <a:gd name="adj" fmla="val 0"/>
            </a:avLst>
          </a:prstGeom>
          <a:solidFill>
            <a:srgbClr val="007B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14400" y="3924300"/>
            <a:ext cx="3175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业务层 (Service)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核心逻辑处理，事务管理与业务调度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711700"/>
            <a:ext cx="3429000" cy="685800"/>
          </a:xfrm>
          <a:prstGeom prst="roundRect">
            <a:avLst>
              <a:gd name="adj" fmla="val 0"/>
            </a:avLst>
          </a:prstGeom>
          <a:solidFill>
            <a:srgbClr val="007B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4711700"/>
            <a:ext cx="50800" cy="685800"/>
          </a:xfrm>
          <a:prstGeom prst="roundRect">
            <a:avLst>
              <a:gd name="adj" fmla="val 0"/>
            </a:avLst>
          </a:prstGeom>
          <a:solidFill>
            <a:srgbClr val="007B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914400" y="4711700"/>
            <a:ext cx="3175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数据层 (DAO &amp; DB)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MyBatis 映射 SQL，MySQL 存储数据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381500" y="1651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1800" b="1" i="0" u="none" strike="noStrike" dirty="0" err="1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报废模块代码结构</a:t>
            </a:r>
            <a:endParaRPr lang="en-US" sz="1100" dirty="0"/>
          </a:p>
        </p:txBody>
      </p:sp>
      <p:cxnSp>
        <p:nvCxnSpPr>
          <p:cNvPr id="20" name="Connector 20"/>
          <p:cNvCxnSpPr/>
          <p:nvPr/>
        </p:nvCxnSpPr>
        <p:spPr>
          <a:xfrm rot="-12732">
            <a:off x="4381512" y="2152650"/>
            <a:ext cx="342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4381500" y="2349500"/>
            <a:ext cx="1651000" cy="1206500"/>
          </a:xfrm>
          <a:prstGeom prst="roundRect">
            <a:avLst>
              <a:gd name="adj" fmla="val 0"/>
            </a:avLst>
          </a:prstGeom>
          <a:solidFill>
            <a:srgbClr val="E9ECEF">
              <a:alpha val="5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4445000" y="2413000"/>
            <a:ext cx="152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domain 实体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Scrap.java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映射数据库表结构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定义数据字段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159500" y="2349500"/>
            <a:ext cx="1651000" cy="1206500"/>
          </a:xfrm>
          <a:prstGeom prst="roundRect">
            <a:avLst>
              <a:gd name="adj" fmla="val 0"/>
            </a:avLst>
          </a:prstGeom>
          <a:solidFill>
            <a:srgbClr val="E9ECEF">
              <a:alpha val="5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223000" y="2413000"/>
            <a:ext cx="152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dao 数据访问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ScrapDao.java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定义CRUD接口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SQL语句映射</a:t>
            </a:r>
          </a:p>
        </p:txBody>
      </p:sp>
      <p:sp>
        <p:nvSpPr>
          <p:cNvPr id="25" name="AutoShape 25"/>
          <p:cNvSpPr/>
          <p:nvPr/>
        </p:nvSpPr>
        <p:spPr>
          <a:xfrm>
            <a:off x="4381500" y="3683000"/>
            <a:ext cx="1651000" cy="1206500"/>
          </a:xfrm>
          <a:prstGeom prst="roundRect">
            <a:avLst>
              <a:gd name="adj" fmla="val 0"/>
            </a:avLst>
          </a:prstGeom>
          <a:solidFill>
            <a:srgbClr val="E9ECEF">
              <a:alpha val="5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4445000" y="3746500"/>
            <a:ext cx="152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service 业务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Impl/Interface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业务逻辑封装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事务控制处理</a:t>
            </a:r>
          </a:p>
        </p:txBody>
      </p:sp>
      <p:sp>
        <p:nvSpPr>
          <p:cNvPr id="27" name="AutoShape 27"/>
          <p:cNvSpPr/>
          <p:nvPr/>
        </p:nvSpPr>
        <p:spPr>
          <a:xfrm>
            <a:off x="6159500" y="3683000"/>
            <a:ext cx="1651000" cy="1206500"/>
          </a:xfrm>
          <a:prstGeom prst="roundRect">
            <a:avLst>
              <a:gd name="adj" fmla="val 0"/>
            </a:avLst>
          </a:prstGeom>
          <a:solidFill>
            <a:srgbClr val="E9ECEF">
              <a:alpha val="5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223000" y="3746500"/>
            <a:ext cx="152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controller 接口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ScrapController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RESTful API定义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接收前端请求</a:t>
            </a:r>
          </a:p>
        </p:txBody>
      </p:sp>
      <p:sp>
        <p:nvSpPr>
          <p:cNvPr id="29" name="AutoShape 29"/>
          <p:cNvSpPr/>
          <p:nvPr/>
        </p:nvSpPr>
        <p:spPr>
          <a:xfrm>
            <a:off x="4381500" y="5016500"/>
            <a:ext cx="1651000" cy="1206500"/>
          </a:xfrm>
          <a:prstGeom prst="roundRect">
            <a:avLst>
              <a:gd name="adj" fmla="val 0"/>
            </a:avLst>
          </a:prstGeom>
          <a:solidFill>
            <a:srgbClr val="E9ECEF">
              <a:alpha val="5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4445000" y="5080000"/>
            <a:ext cx="152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dto 传输对象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Request/Response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入参出参封装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数据校验载体</a:t>
            </a:r>
          </a:p>
        </p:txBody>
      </p:sp>
      <p:sp>
        <p:nvSpPr>
          <p:cNvPr id="31" name="AutoShape 31"/>
          <p:cNvSpPr/>
          <p:nvPr/>
        </p:nvSpPr>
        <p:spPr>
          <a:xfrm>
            <a:off x="6159500" y="5016500"/>
            <a:ext cx="1651000" cy="1206500"/>
          </a:xfrm>
          <a:prstGeom prst="roundRect">
            <a:avLst>
              <a:gd name="adj" fmla="val 0"/>
            </a:avLst>
          </a:prstGeom>
          <a:solidFill>
            <a:srgbClr val="E9ECEF">
              <a:alpha val="5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6223000" y="5080000"/>
            <a:ext cx="152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frontend 视图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Scrap.vue 页面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Element UI组件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Axios数据交互</a:t>
            </a:r>
          </a:p>
        </p:txBody>
      </p:sp>
      <p:sp>
        <p:nvSpPr>
          <p:cNvPr id="33" name="AutoShape 33"/>
          <p:cNvSpPr/>
          <p:nvPr/>
        </p:nvSpPr>
        <p:spPr>
          <a:xfrm>
            <a:off x="8001000" y="1651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核心技术选型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-12732">
            <a:off x="8001012" y="2152650"/>
            <a:ext cx="342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8001000" y="23495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1F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53400" y="2501900"/>
            <a:ext cx="304800" cy="3048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8509000" y="2438400"/>
            <a:ext cx="2857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后端服务体系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Spring Boot 2.2.2 构建微服务，集成 MyBatis 实现高效数据持久化，采用 MySQL 5.7 保障数据安全与事务一致性。</a:t>
            </a:r>
          </a:p>
        </p:txBody>
      </p:sp>
      <p:sp>
        <p:nvSpPr>
          <p:cNvPr id="38" name="AutoShape 38"/>
          <p:cNvSpPr/>
          <p:nvPr/>
        </p:nvSpPr>
        <p:spPr>
          <a:xfrm>
            <a:off x="8001000" y="36830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1F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53400" y="3835400"/>
            <a:ext cx="304800" cy="304800"/>
          </a:xfrm>
          <a:prstGeom prst="rect">
            <a:avLst/>
          </a:prstGeom>
        </p:spPr>
      </p:pic>
      <p:sp>
        <p:nvSpPr>
          <p:cNvPr id="40" name="AutoShape 40"/>
          <p:cNvSpPr/>
          <p:nvPr/>
        </p:nvSpPr>
        <p:spPr>
          <a:xfrm>
            <a:off x="8509000" y="3771900"/>
            <a:ext cx="2857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前端交互体验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采用 Vue.js 2 渐进式框架，结合 Element UI 快速搭建响应式界面，利用 Axios 实现稳定的异步通信与数据交互。</a:t>
            </a:r>
          </a:p>
        </p:txBody>
      </p:sp>
      <p:sp>
        <p:nvSpPr>
          <p:cNvPr id="41" name="AutoShape 41"/>
          <p:cNvSpPr/>
          <p:nvPr/>
        </p:nvSpPr>
        <p:spPr>
          <a:xfrm>
            <a:off x="8001000" y="50165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1F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53400" y="5168900"/>
            <a:ext cx="304800" cy="304800"/>
          </a:xfrm>
          <a:prstGeom prst="rect">
            <a:avLst/>
          </a:prstGeom>
        </p:spPr>
      </p:pic>
      <p:sp>
        <p:nvSpPr>
          <p:cNvPr id="43" name="AutoShape 43"/>
          <p:cNvSpPr/>
          <p:nvPr/>
        </p:nvSpPr>
        <p:spPr>
          <a:xfrm>
            <a:off x="8509000" y="5105400"/>
            <a:ext cx="2857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工程与效能工具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Maven 统一依赖管理，Lombok 简化冗余代码，Knife4j 自动生成接口文档，全方位提升开发效率与维护性。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03 报废管理功能设计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4605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01 / 全流程覆盖的八大功能模块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25654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0574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20574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新增报废单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2438400"/>
            <a:ext cx="2184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填写资产基础信息与报废原因，生成待提交单据。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29000" y="1905000"/>
            <a:ext cx="25654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9500" y="20574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000500" y="20574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编辑报废单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19500" y="2438400"/>
            <a:ext cx="2184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针对未提交的草稿单据，支持信息修改与补充。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096000" y="1905000"/>
            <a:ext cx="25654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6500" y="20574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667500" y="20574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查看详情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86500" y="2438400"/>
            <a:ext cx="2184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穿透式查看单据全量信息、审批记录及状态轨迹。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763000" y="1905000"/>
            <a:ext cx="25654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53500" y="20574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334500" y="20574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提交审批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953500" y="2438400"/>
            <a:ext cx="2184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确认无误后提交，单据进入审批队列等待处理。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3111500"/>
            <a:ext cx="25654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32639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333500" y="32639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审批操作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52500" y="3644900"/>
            <a:ext cx="2184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管理员端执行通过或驳回操作，并需填写审批意见。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429000" y="3111500"/>
            <a:ext cx="25654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19500" y="32639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4000500" y="32639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报废列表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3619500" y="3644900"/>
            <a:ext cx="2184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支持多维度筛选、分页查询及导出所有报废记录。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096000" y="3111500"/>
            <a:ext cx="25654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86500" y="32639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6667500" y="32639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撤销申请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286500" y="3644900"/>
            <a:ext cx="2184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 dirty="0" err="1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审批前置状态下，申请人可主动撤回，避免误操作</a:t>
            </a:r>
            <a:r>
              <a:rPr lang="en-US" sz="1200" b="0" i="0" u="none" strike="noStrike" dirty="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34" name="AutoShape 34"/>
          <p:cNvSpPr/>
          <p:nvPr/>
        </p:nvSpPr>
        <p:spPr>
          <a:xfrm>
            <a:off x="8763000" y="3111500"/>
            <a:ext cx="25654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53500" y="3263900"/>
            <a:ext cx="304800" cy="3048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9334500" y="32639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权限控制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953500" y="3644900"/>
            <a:ext cx="2184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基于RBAC模型，严格隔离申请人与管理员的数据。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762000" y="43815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02 / 单据状态闭环流转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762000" y="4826000"/>
            <a:ext cx="5334000" cy="1651000"/>
          </a:xfrm>
          <a:prstGeom prst="roundRect">
            <a:avLst>
              <a:gd name="adj" fmla="val 0"/>
            </a:avLst>
          </a:prstGeom>
          <a:solidFill>
            <a:srgbClr val="E9ECE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40"/>
          <p:cNvSpPr/>
          <p:nvPr/>
        </p:nvSpPr>
        <p:spPr>
          <a:xfrm>
            <a:off x="889000" y="4953000"/>
            <a:ext cx="1206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ED4D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41"/>
          <p:cNvSpPr/>
          <p:nvPr/>
        </p:nvSpPr>
        <p:spPr>
          <a:xfrm>
            <a:off x="889000" y="5080000"/>
            <a:ext cx="1206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待提交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889000" y="5397500"/>
            <a:ext cx="1206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DB5BD"/>
                </a:solidFill>
                <a:latin typeface="Noto Sans SC"/>
                <a:ea typeface="Noto Sans SC"/>
                <a:cs typeface="Noto Sans SC"/>
                <a:sym typeface="Noto Sans SC"/>
              </a:rPr>
              <a:t>Status: 0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952500" y="5778500"/>
            <a:ext cx="107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1666"/>
              </a:lnSpc>
              <a:defRPr/>
            </a:pPr>
            <a:r>
              <a:rPr lang="en-US" sz="11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用户填写后暂存</a:t>
            </a:r>
            <a:br>
              <a:rPr lang="en-US" sz="11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未进入审批流</a:t>
            </a:r>
            <a:endParaRPr lang="en-US" sz="1100"/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33600" y="5549900"/>
            <a:ext cx="203200" cy="203200"/>
          </a:xfrm>
          <a:prstGeom prst="rect">
            <a:avLst/>
          </a:prstGeom>
        </p:spPr>
      </p:pic>
      <p:sp>
        <p:nvSpPr>
          <p:cNvPr id="45" name="AutoShape 45"/>
          <p:cNvSpPr/>
          <p:nvPr/>
        </p:nvSpPr>
        <p:spPr>
          <a:xfrm>
            <a:off x="2349500" y="4953000"/>
            <a:ext cx="1206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ED4D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AutoShape 46"/>
          <p:cNvSpPr/>
          <p:nvPr/>
        </p:nvSpPr>
        <p:spPr>
          <a:xfrm>
            <a:off x="2349500" y="5080000"/>
            <a:ext cx="1206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待审批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2349500" y="5397500"/>
            <a:ext cx="1206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DB5BD"/>
                </a:solidFill>
                <a:latin typeface="Noto Sans SC"/>
                <a:ea typeface="Noto Sans SC"/>
                <a:cs typeface="Noto Sans SC"/>
                <a:sym typeface="Noto Sans SC"/>
              </a:rPr>
              <a:t>Status: 1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2413000" y="5778500"/>
            <a:ext cx="107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1666"/>
              </a:lnSpc>
              <a:defRPr/>
            </a:pPr>
            <a:r>
              <a:rPr lang="en-US" sz="11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已提交申请</a:t>
            </a:r>
            <a:br>
              <a:rPr lang="en-US" sz="11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等待审核处理</a:t>
            </a:r>
            <a:endParaRPr lang="en-US" sz="1100"/>
          </a:p>
        </p:txBody>
      </p:sp>
      <p:pic>
        <p:nvPicPr>
          <p:cNvPr id="49" name="Picture 4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94100" y="5549900"/>
            <a:ext cx="203200" cy="203200"/>
          </a:xfrm>
          <a:prstGeom prst="rect">
            <a:avLst/>
          </a:prstGeom>
        </p:spPr>
      </p:pic>
      <p:sp>
        <p:nvSpPr>
          <p:cNvPr id="50" name="AutoShape 50"/>
          <p:cNvSpPr/>
          <p:nvPr/>
        </p:nvSpPr>
        <p:spPr>
          <a:xfrm>
            <a:off x="3810000" y="4953000"/>
            <a:ext cx="1206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ED4D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51"/>
          <p:cNvSpPr/>
          <p:nvPr/>
        </p:nvSpPr>
        <p:spPr>
          <a:xfrm>
            <a:off x="3810000" y="5080000"/>
            <a:ext cx="1206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通过/驳回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3810000" y="5397500"/>
            <a:ext cx="1206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DB5BD"/>
                </a:solidFill>
                <a:latin typeface="Noto Sans SC"/>
                <a:ea typeface="Noto Sans SC"/>
                <a:cs typeface="Noto Sans SC"/>
                <a:sym typeface="Noto Sans SC"/>
              </a:rPr>
              <a:t>Status: 2/3</a:t>
            </a:r>
            <a:endParaRPr lang="en-US" sz="1100"/>
          </a:p>
        </p:txBody>
      </p:sp>
      <p:sp>
        <p:nvSpPr>
          <p:cNvPr id="53" name="AutoShape 53"/>
          <p:cNvSpPr/>
          <p:nvPr/>
        </p:nvSpPr>
        <p:spPr>
          <a:xfrm>
            <a:off x="3873500" y="5778500"/>
            <a:ext cx="107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1666"/>
              </a:lnSpc>
              <a:defRPr/>
            </a:pPr>
            <a:r>
              <a:rPr lang="en-US" sz="11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资产正式报废</a:t>
            </a:r>
            <a:br>
              <a:rPr lang="en-US" sz="11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或驳回重填</a:t>
            </a:r>
            <a:endParaRPr lang="en-US" sz="1100"/>
          </a:p>
        </p:txBody>
      </p:sp>
      <p:sp>
        <p:nvSpPr>
          <p:cNvPr id="54" name="AutoShape 54"/>
          <p:cNvSpPr/>
          <p:nvPr/>
        </p:nvSpPr>
        <p:spPr>
          <a:xfrm>
            <a:off x="6286500" y="43815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03 / 核心API接口支撑</a:t>
            </a:r>
            <a:endParaRPr lang="en-US" sz="1100"/>
          </a:p>
        </p:txBody>
      </p:sp>
      <p:sp>
        <p:nvSpPr>
          <p:cNvPr id="55" name="AutoShape 55"/>
          <p:cNvSpPr/>
          <p:nvPr/>
        </p:nvSpPr>
        <p:spPr>
          <a:xfrm>
            <a:off x="6286500" y="4826000"/>
            <a:ext cx="5334000" cy="1651000"/>
          </a:xfrm>
          <a:prstGeom prst="roundRect">
            <a:avLst>
              <a:gd name="adj" fmla="val 0"/>
            </a:avLst>
          </a:prstGeom>
          <a:solidFill>
            <a:srgbClr val="007BFF">
              <a:alpha val="6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AutoShape 56"/>
          <p:cNvSpPr/>
          <p:nvPr/>
        </p:nvSpPr>
        <p:spPr>
          <a:xfrm>
            <a:off x="6413500" y="4953000"/>
            <a:ext cx="2540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POST /api/scrap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创建报废申请单，初始化草稿状态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PUT /api/scrap/{id}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更新指定单据信息（仅限草稿）</a:t>
            </a:r>
          </a:p>
        </p:txBody>
      </p:sp>
      <p:cxnSp>
        <p:nvCxnSpPr>
          <p:cNvPr id="57" name="Connector 57"/>
          <p:cNvCxnSpPr/>
          <p:nvPr/>
        </p:nvCxnSpPr>
        <p:spPr>
          <a:xfrm rot="5365623">
            <a:off x="8318500" y="5645182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AutoShape 58"/>
          <p:cNvSpPr/>
          <p:nvPr/>
        </p:nvSpPr>
        <p:spPr>
          <a:xfrm>
            <a:off x="9080500" y="4953000"/>
            <a:ext cx="2540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POST /action/{id}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提交、通过或驳回指定单据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GET /api/scrap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分页查询，支持多条件组合筛选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04 数据库设计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核心表结构：scrap (报废单主表)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62000" y="2032000"/>
          <a:ext cx="10668000" cy="24231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字段名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数据类型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字段描述与业务规则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9505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E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9505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bigint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E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9505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表主键，自增唯一ID，用于数据库内部索引与关联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E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9505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scrap_no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9505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varchar(64)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9505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业务主键，由UUID自动生成，作为对外交互的唯一标识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9505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consumable_id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E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9505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bigint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E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9505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外键关联消耗品主表，确立报废物料的归属与基础信息联动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E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9505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status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9505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tinyint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9505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审批状态枚举：0-待提交 / 1-待审批 / 2-已通过 / 3-已驳回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9505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_time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E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9505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datetime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E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9505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包含申请、审批、创建及更新时间，记录单据全生命周期时间节点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CE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762000" y="4572000"/>
            <a:ext cx="2540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4762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47625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业务主键设计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52070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采用UUID生成全局唯一的业务单号，避免自增ID带来的数据暴露风险，同时提升系统分布式部署与外部集成的灵活性。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67100" y="4572000"/>
            <a:ext cx="2540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0" y="4762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038600" y="47625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数据强关联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57600" y="52070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通过外键与物料主表关联，实现报废单据与库存数据的实时联动，确保财务核算与库存管理的数据一致性与准确性。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172200" y="4572000"/>
            <a:ext cx="2540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2700" y="4762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743700" y="47625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状态驱动流转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62700" y="52070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状态字段作为审批流的核心驱动，精准控制单据的可见性、操作权限及业务逻辑分支，实现流程的自动化管控与节点校验。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877300" y="4572000"/>
            <a:ext cx="2540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67800" y="4762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448800" y="47625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全链路审计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067800" y="52070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完整记录申请人、审批人及关键操作的时间戳，形成不可篡改的操作日志，满足企业内控审计与业务合规性追溯需求。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270000"/>
            <a:ext cx="3810000" cy="381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270000" y="5080000"/>
            <a:ext cx="3175000" cy="3175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05 后端实现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556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6E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3556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5200" y="20574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057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实体映射 · Scrap.java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14400" y="2667000"/>
            <a:ext cx="3251200" cy="2667000"/>
          </a:xfrm>
          <a:prstGeom prst="roundRect">
            <a:avLst>
              <a:gd name="adj" fmla="val 0"/>
            </a:avLst>
          </a:prstGeom>
          <a:solidFill>
            <a:srgbClr val="F1F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16000" y="2794000"/>
            <a:ext cx="3048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8E44A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@Data@TableName</a:t>
            </a:r>
            <a:r>
              <a:rPr lang="en-US" sz="1200" b="0" i="0" u="none" strike="noStrike">
                <a:solidFill>
                  <a:srgbClr val="52525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</a:t>
            </a:r>
            <a:r>
              <a:rPr lang="en-US" sz="1200" b="0" i="0" u="none" strike="noStrike">
                <a:solidFill>
                  <a:srgbClr val="27AE6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"scrap"</a:t>
            </a:r>
            <a:r>
              <a:rPr lang="en-US" sz="1200" b="0" i="0" u="none" strike="noStrike">
                <a:solidFill>
                  <a:srgbClr val="52525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21618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public class</a:t>
            </a:r>
            <a:r>
              <a:rPr lang="en-US" sz="1200" b="0" i="0" u="none" strike="noStrike">
                <a:solidFill>
                  <a:srgbClr val="52525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Scrap {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8E44A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@TableId</a:t>
            </a:r>
            <a:r>
              <a:rPr lang="en-US" sz="1200" b="0" i="0" u="none" strike="noStrike">
                <a:solidFill>
                  <a:srgbClr val="52525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(type = IdType.AUTO)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21618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private</a:t>
            </a:r>
            <a:r>
              <a:rPr lang="en-US" sz="1200" b="0" i="0" u="none" strike="noStrike">
                <a:solidFill>
                  <a:srgbClr val="52525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Long id;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21618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private</a:t>
            </a:r>
            <a:r>
              <a:rPr lang="en-US" sz="1200" b="0" i="0" u="none" strike="noStrike">
                <a:solidFill>
                  <a:srgbClr val="52525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String scrapNo;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21618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private</a:t>
            </a:r>
            <a:r>
              <a:rPr lang="en-US" sz="1200" b="0" i="0" u="none" strike="noStrike">
                <a:solidFill>
                  <a:srgbClr val="52525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Integer status;</a:t>
            </a:r>
            <a:r>
              <a:rPr lang="en-US" sz="1200" b="0" i="0" u="none" strike="noStrike">
                <a:solidFill>
                  <a:srgbClr val="7F8C8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0:待提交 1:待审批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21618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private</a:t>
            </a:r>
            <a:r>
              <a:rPr lang="en-US" sz="1200" b="0" i="0" u="none" strike="noStrike">
                <a:solidFill>
                  <a:srgbClr val="52525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Date applyTime;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318000" y="1778000"/>
            <a:ext cx="3556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6E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318000" y="1778000"/>
            <a:ext cx="3556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1200" y="20574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953000" y="2057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数据访问 · ScrapDao.java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470400" y="2667000"/>
            <a:ext cx="3251200" cy="2667000"/>
          </a:xfrm>
          <a:prstGeom prst="roundRect">
            <a:avLst>
              <a:gd name="adj" fmla="val 0"/>
            </a:avLst>
          </a:prstGeom>
          <a:solidFill>
            <a:srgbClr val="F1F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4572000" y="2794000"/>
            <a:ext cx="3048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8E44A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@Mapper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21618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public interface</a:t>
            </a:r>
            <a:r>
              <a:rPr lang="en-US" sz="1200" b="0" i="0" u="none" strike="noStrike">
                <a:solidFill>
                  <a:srgbClr val="52525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ScrapDao</a:t>
            </a:r>
            <a:r>
              <a:rPr lang="en-US" sz="1200" b="0" i="0" u="none" strike="noStrike">
                <a:solidFill>
                  <a:srgbClr val="21618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extends</a:t>
            </a:r>
            <a:r>
              <a:rPr lang="en-US" sz="1200" b="0" i="0" u="none" strike="noStrike">
                <a:solidFill>
                  <a:srgbClr val="52525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BaseMapper&lt;Scrap&gt; {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7F8C8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/**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扩展查询：按状态过滤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List&lt;Scrap&gt; selectByStatus(Integer status);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7F8C8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继承BaseMapper获得CRUD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874000" y="1778000"/>
            <a:ext cx="3556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6E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874000" y="1778000"/>
            <a:ext cx="3556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77200" y="20574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509000" y="2057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业务逻辑 · ScrapServiceImpl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026400" y="2667000"/>
            <a:ext cx="3251200" cy="2667000"/>
          </a:xfrm>
          <a:prstGeom prst="roundRect">
            <a:avLst>
              <a:gd name="adj" fmla="val 0"/>
            </a:avLst>
          </a:prstGeom>
          <a:solidFill>
            <a:srgbClr val="F1F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128000" y="2794000"/>
            <a:ext cx="3048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8E44A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@Service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21618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public class</a:t>
            </a:r>
            <a:r>
              <a:rPr lang="en-US" sz="1200" b="0" i="0" u="none" strike="noStrike">
                <a:solidFill>
                  <a:srgbClr val="52525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ScrapServiceImpl</a:t>
            </a:r>
            <a:r>
              <a:rPr lang="en-US" sz="1200" b="0" i="0" u="none" strike="noStrike">
                <a:solidFill>
                  <a:srgbClr val="21618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extends</a:t>
            </a:r>
            <a:r>
              <a:rPr lang="en-US" sz="1200" b="0" i="0" u="none" strike="noStrike">
                <a:solidFill>
                  <a:srgbClr val="52525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ServiceImpl&lt;ScrapDao, Scrap&gt; {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21618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public boolean</a:t>
            </a:r>
            <a:r>
              <a:rPr lang="en-US" sz="1200" b="0" i="0" u="none" strike="noStrike">
                <a:solidFill>
                  <a:srgbClr val="52525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submitApp(Long id) {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Scrap s = getById(id);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s.setStatus(1);</a:t>
            </a:r>
            <a:r>
              <a:rPr lang="en-US" sz="1200" b="0" i="0" u="none" strike="noStrike">
                <a:solidFill>
                  <a:srgbClr val="7F8C8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状态流转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s.setApplyTime(</a:t>
            </a:r>
            <a:r>
              <a:rPr lang="en-US" sz="1200" b="0" i="0" u="none" strike="noStrike">
                <a:solidFill>
                  <a:srgbClr val="21618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new</a:t>
            </a:r>
            <a:r>
              <a:rPr lang="en-US" sz="1200" b="0" i="0" u="none" strike="noStrike">
                <a:solidFill>
                  <a:srgbClr val="52525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Date());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21618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return</a:t>
            </a:r>
            <a:r>
              <a:rPr lang="en-US" sz="1200" b="0" i="0" u="none" strike="noStrike">
                <a:solidFill>
                  <a:srgbClr val="52525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updateById(s);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</a:p>
        </p:txBody>
      </p:sp>
      <p:sp>
        <p:nvSpPr>
          <p:cNvPr id="23" name="AutoShape 23"/>
          <p:cNvSpPr/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采用经典的三层架构模式，结合 MyBatis-Plus 减少重复 CRUD 代码，实现高效、规范的后端开发流程。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06 前端实现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78200" cy="1587500"/>
          </a:xfrm>
          <a:prstGeom prst="roundRect">
            <a:avLst>
              <a:gd name="adj" fmla="val 0"/>
            </a:avLst>
          </a:prstGeom>
          <a:solidFill>
            <a:srgbClr val="007BFF">
              <a:alpha val="6000"/>
            </a:srgbClr>
          </a:solidFill>
          <a:ln w="12700" cap="flat" cmpd="sng">
            <a:solidFill>
              <a:srgbClr val="007B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841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18415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核心视图组件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2225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src/views/scrap/Scrap.vue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报废管理的主页面，聚合了列表展示、筛选查询及操作入口，是用户交互的核心载体。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06900" y="1651000"/>
            <a:ext cx="3378200" cy="1587500"/>
          </a:xfrm>
          <a:prstGeom prst="roundRect">
            <a:avLst>
              <a:gd name="adj" fmla="val 0"/>
            </a:avLst>
          </a:prstGeom>
          <a:solidFill>
            <a:srgbClr val="007BFF">
              <a:alpha val="6000"/>
            </a:srgbClr>
          </a:solidFill>
          <a:ln w="12700" cap="flat" cmpd="sng">
            <a:solidFill>
              <a:srgbClr val="007B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7400" y="1841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978400" y="18415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接口请求封装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97400" y="22225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src/api/scrap.js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集中管理增删改查接口，统一配置请求头、响应拦截器，实现前后端数据交互的标准化。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51800" y="1651000"/>
            <a:ext cx="3378200" cy="1587500"/>
          </a:xfrm>
          <a:prstGeom prst="roundRect">
            <a:avLst>
              <a:gd name="adj" fmla="val 0"/>
            </a:avLst>
          </a:prstGeom>
          <a:solidFill>
            <a:srgbClr val="007BFF">
              <a:alpha val="6000"/>
            </a:srgbClr>
          </a:solidFill>
          <a:ln w="12700" cap="flat" cmpd="sng">
            <a:solidFill>
              <a:srgbClr val="007B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42300" y="1841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623300" y="18415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路由访问配置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42300" y="22225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src/router/index.js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配置页面的访问路径，结合权限控制模块，实现基于角色的页面访问权限动态管理。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3556000"/>
            <a:ext cx="5207000" cy="2667000"/>
          </a:xfrm>
          <a:prstGeom prst="roundRect">
            <a:avLst>
              <a:gd name="adj" fmla="val 0"/>
            </a:avLst>
          </a:prstGeom>
          <a:solidFill>
            <a:srgbClr val="2B3A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62000" y="3556000"/>
            <a:ext cx="5207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952500" y="37465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0CAF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核心逻辑：状态渲染与操作定义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52500" y="4191000"/>
            <a:ext cx="482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&lt;el-table</a:t>
            </a:r>
            <a:r>
              <a:rPr lang="en-US" sz="1200" b="0" i="0" u="none" strike="noStrike">
                <a:solidFill>
                  <a:srgbClr val="E0E0E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:data="tableData" border stripe&gt;</a:t>
            </a:r>
            <a:br>
              <a:rPr lang="en-US" sz="12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E0E0E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&lt;!-- 状态列：动态标签渲染 --&gt;</a:t>
            </a:r>
            <a:br>
              <a:rPr lang="en-US" sz="12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&lt;el-table-column</a:t>
            </a:r>
            <a:r>
              <a:rPr lang="en-US" sz="1200" b="0" i="0" u="none" strike="noStrike">
                <a:solidFill>
                  <a:srgbClr val="61AFE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prop="status"label="状态"</a:t>
            </a:r>
            <a:r>
              <a:rPr lang="en-US" sz="1200" b="0" i="0" u="none" strike="noStrike">
                <a:solidFill>
                  <a:srgbClr val="E0E0E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&gt;</a:t>
            </a:r>
            <a:br>
              <a:rPr lang="en-US" sz="12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E0E0E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&lt;template slot-scope="scope"&gt;</a:t>
            </a:r>
            <a:br>
              <a:rPr lang="en-US" sz="12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E0E0E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&lt;el-tag :type="getStatusType(scope.row)"&gt;{{ scope.row.status }}&lt;/el-tag&gt;</a:t>
            </a:r>
            <a:br>
              <a:rPr lang="en-US" sz="12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E0E0E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&lt;/template&gt;</a:t>
            </a:r>
            <a:br>
              <a:rPr lang="en-US" sz="12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&lt;/el-table-column&gt;</a:t>
            </a:r>
            <a:br>
              <a:rPr lang="en-US" sz="12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&lt;/el-table&gt;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3556000"/>
            <a:ext cx="273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3746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794500" y="37465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高性能数据表格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13500" y="4191000"/>
            <a:ext cx="234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Element UI 表格组件，支持自定义列模板、分页与多条件筛选，满足复杂数据展示需求。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080500" y="3556000"/>
            <a:ext cx="273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71000" y="37465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652000" y="37465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动态状态标签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271000" y="4191000"/>
            <a:ext cx="234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根据业务状态（如待提交、已审核）自动映射标签颜色，实现视觉化的状态区分与快速识别。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223000" y="5016500"/>
            <a:ext cx="273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500" y="52070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6794500" y="52070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弹窗式交互设计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413500" y="5651500"/>
            <a:ext cx="234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利用模态框实现新增与编辑操作，无需页面跳转，保持用户操作的连贯性与流程的完整性。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080500" y="5016500"/>
            <a:ext cx="273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71000" y="5207000"/>
            <a:ext cx="304800" cy="3048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9652000" y="52070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标准化接口通信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9271000" y="5651500"/>
            <a:ext cx="234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封装 Axios 拦截器，统一处理请求头、响应数据格式化及异常捕获，确保数据交互稳定。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07 功能演示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50800" cy="13970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1752600"/>
            <a:ext cx="317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01 登录系统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支持普通用户与管理员双角色登录，系统自动识别身份并加载对应权限菜单，确保操作入口正确。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381500" y="1651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381500" y="1651000"/>
            <a:ext cx="50800" cy="13970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572000" y="1752600"/>
            <a:ext cx="317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02 新增报废单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填写需报废的消耗品名称、数量及具体报废原因，确认信息无误后暂存，单据状态为“待提交”。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001000" y="1651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001000" y="1651000"/>
            <a:ext cx="50800" cy="13970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191500" y="1752600"/>
            <a:ext cx="317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03 提交审批申请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用户提交单据后，状态自动流转为“待审批”，单据进入管理员审批队列，等待进一步处理。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3302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3302000"/>
            <a:ext cx="50800" cy="13970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952500" y="3403600"/>
            <a:ext cx="317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04 管理员审批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切换至管理员账号，在审批中心查看待处理列表，根据实际情况执行“通过”或“驳回”操作。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4381500" y="3302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381500" y="3302000"/>
            <a:ext cx="50800" cy="13970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4572000" y="3403600"/>
            <a:ext cx="317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05 状态实时变更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审批结果反馈后，单据状态即时更新，操作按钮（如打印、导出）随状态自动适配显示。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001000" y="3302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001000" y="3302000"/>
            <a:ext cx="50800" cy="13970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191500" y="3403600"/>
            <a:ext cx="317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06 多维查询筛选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支持按单据状态、申请时间、申请人等多维度条件组合查询，快速定位历史报废记录。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762000" y="50165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007BFF">
              <a:alpha val="5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51816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333500" y="51562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预期演示效果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52500" y="5588000"/>
            <a:ext cx="488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全流程状态流转无卡顿，角色权限边界清晰；普通用户与管理员端数据实时同步，单据状态变更即时可见，确保业务闭环顺畅。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159500" y="50165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007BFF">
              <a:alpha val="5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0" y="51816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6731000" y="51562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核心校验检查点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350000" y="5588000"/>
            <a:ext cx="488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接口请求与响应数据格式符合规范；数据库记录与业务操作完全一致；页面刷新或重登后数据持久化稳定，无数据丢失或错乱。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906000" y="-1524000"/>
            <a:ext cx="4064000" cy="4064000"/>
          </a:xfrm>
          <a:prstGeom prst="ellipse">
            <a:avLst/>
          </a:prstGeom>
          <a:solidFill>
            <a:srgbClr val="007B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524000" y="4826000"/>
            <a:ext cx="3556000" cy="3556000"/>
          </a:xfrm>
          <a:prstGeom prst="ellipse">
            <a:avLst/>
          </a:prstGeom>
          <a:solidFill>
            <a:srgbClr val="007B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1016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感谢各位老师聆听！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048000"/>
            <a:ext cx="4889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3429000"/>
            <a:ext cx="50800" cy="15240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7000" y="3454400"/>
            <a:ext cx="558800" cy="558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159000" y="3403600"/>
            <a:ext cx="37465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 dirty="0" err="1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答辩小组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2800" b="1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106组</a:t>
            </a:r>
          </a:p>
        </p:txBody>
      </p:sp>
      <p:sp>
        <p:nvSpPr>
          <p:cNvPr id="9" name="AutoShape 9"/>
          <p:cNvSpPr/>
          <p:nvPr/>
        </p:nvSpPr>
        <p:spPr>
          <a:xfrm>
            <a:off x="6286500" y="3048000"/>
            <a:ext cx="4889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286500" y="3429000"/>
            <a:ext cx="50800" cy="15240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500" y="3454400"/>
            <a:ext cx="558800" cy="558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429500" y="3403600"/>
            <a:ext cx="37465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 dirty="0" err="1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指导老师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2800" b="1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侯富川</a:t>
            </a:r>
            <a:endParaRPr lang="en-US" sz="2800" b="1" i="0" u="none" strike="noStrike" dirty="0">
              <a:solidFill>
                <a:srgbClr val="343A4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0" y="5715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恳请各位老师批评指正 ——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18427" y="5837095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1208</Words>
  <Application>Microsoft Office PowerPoint</Application>
  <PresentationFormat>宽屏</PresentationFormat>
  <Paragraphs>234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Noto Sans SC</vt:lpstr>
      <vt:lpstr>Arial</vt:lpstr>
      <vt:lpstr>Source Code Pro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徐珂</dc:creator>
  <cp:lastModifiedBy>珂 徐</cp:lastModifiedBy>
  <cp:revision>2</cp:revision>
  <dcterms:modified xsi:type="dcterms:W3CDTF">2026-07-17T01:58:46Z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{"Label":"1","ContentProducer":"001191110102MACQD9K64010000","ProduceID":"7663306195089083627","ReservedCode1":"","ContentPropagator":"","PropagateID":"","ReservedCode2":""}</vt:lpwstr>
  </property>
</Properties>
</file>